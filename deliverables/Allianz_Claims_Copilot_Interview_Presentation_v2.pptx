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910cb80bb040d8" /><Relationship Type="http://schemas.openxmlformats.org/officeDocument/2006/relationships/extended-properties" Target="/docProps/app.xml" Id="Rebf2d10a6ca64a55" /><Relationship Type="http://schemas.openxmlformats.org/officeDocument/2006/relationships/officeDocument" Target="/ppt/presentation.xml" Id="Rf3c3052d329c44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e6223b4674ab1"/>
  </p:sldMasterIdLst>
  <p:notesMasterIdLst>
    <p:notesMasterId xmlns:r="http://schemas.openxmlformats.org/officeDocument/2006/relationships" r:id="Rff216836a5c3465c"/>
  </p:notesMasterIdLst>
  <p:sldIdLst>
    <p:sldId xmlns:r="http://schemas.openxmlformats.org/officeDocument/2006/relationships" id="256" r:id="R9bf6cba0a5a64c83"/>
    <p:sldId xmlns:r="http://schemas.openxmlformats.org/officeDocument/2006/relationships" id="257" r:id="R8feb6204d1ed4be8"/>
    <p:sldId xmlns:r="http://schemas.openxmlformats.org/officeDocument/2006/relationships" id="258" r:id="R6d31b394342e4d40"/>
    <p:sldId xmlns:r="http://schemas.openxmlformats.org/officeDocument/2006/relationships" id="259" r:id="R7295ddf836b443ce"/>
    <p:sldId xmlns:r="http://schemas.openxmlformats.org/officeDocument/2006/relationships" id="260" r:id="R22bfb0e5fe4f4ae4"/>
    <p:sldId xmlns:r="http://schemas.openxmlformats.org/officeDocument/2006/relationships" id="261" r:id="Rba6c62065d0a4e14"/>
    <p:sldId xmlns:r="http://schemas.openxmlformats.org/officeDocument/2006/relationships" id="262" r:id="R39f1e771907f45f0"/>
    <p:sldId xmlns:r="http://schemas.openxmlformats.org/officeDocument/2006/relationships" id="263" r:id="Re7316d1eadf949d9"/>
    <p:sldId xmlns:r="http://schemas.openxmlformats.org/officeDocument/2006/relationships" id="264" r:id="R49c37c9338f24e9b"/>
    <p:sldId xmlns:r="http://schemas.openxmlformats.org/officeDocument/2006/relationships" id="265" r:id="Rb5a18a835b5c46ce"/>
    <p:sldId xmlns:r="http://schemas.openxmlformats.org/officeDocument/2006/relationships" id="266" r:id="Rae41de4c0e36467f"/>
    <p:sldId xmlns:r="http://schemas.openxmlformats.org/officeDocument/2006/relationships" id="267" r:id="R471702a5ef314d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eb891f26a4f12" /><Relationship Type="http://schemas.openxmlformats.org/officeDocument/2006/relationships/slideMaster" Target="/ppt/slideMasters/slideMaster1.xml" Id="R449e6223b4674ab1" /><Relationship Type="http://schemas.openxmlformats.org/officeDocument/2006/relationships/notesMaster" Target="/ppt/notesMasters/notesMaster1.xml" Id="Rff216836a5c3465c" /><Relationship Type="http://schemas.openxmlformats.org/officeDocument/2006/relationships/presProps" Target="/ppt/presProps.xml" Id="R2e6f64a02b6649cf" /><Relationship Type="http://schemas.openxmlformats.org/officeDocument/2006/relationships/tableStyles" Target="/ppt/tableStyles.xml" Id="Rf9f5de357821438f" /><Relationship Type="http://schemas.openxmlformats.org/officeDocument/2006/relationships/slide" Target="/ppt/slides/slide1.xml" Id="R9bf6cba0a5a64c83" /><Relationship Type="http://schemas.openxmlformats.org/officeDocument/2006/relationships/slide" Target="/ppt/slides/slide2.xml" Id="R8feb6204d1ed4be8" /><Relationship Type="http://schemas.openxmlformats.org/officeDocument/2006/relationships/slide" Target="/ppt/slides/slide3.xml" Id="R6d31b394342e4d40" /><Relationship Type="http://schemas.openxmlformats.org/officeDocument/2006/relationships/slide" Target="/ppt/slides/slide4.xml" Id="R7295ddf836b443ce" /><Relationship Type="http://schemas.openxmlformats.org/officeDocument/2006/relationships/slide" Target="/ppt/slides/slide5.xml" Id="R22bfb0e5fe4f4ae4" /><Relationship Type="http://schemas.openxmlformats.org/officeDocument/2006/relationships/slide" Target="/ppt/slides/slide6.xml" Id="Rba6c62065d0a4e14" /><Relationship Type="http://schemas.openxmlformats.org/officeDocument/2006/relationships/slide" Target="/ppt/slides/slide7.xml" Id="R39f1e771907f45f0" /><Relationship Type="http://schemas.openxmlformats.org/officeDocument/2006/relationships/slide" Target="/ppt/slides/slide8.xml" Id="Re7316d1eadf949d9" /><Relationship Type="http://schemas.openxmlformats.org/officeDocument/2006/relationships/slide" Target="/ppt/slides/slide9.xml" Id="R49c37c9338f24e9b" /><Relationship Type="http://schemas.openxmlformats.org/officeDocument/2006/relationships/slide" Target="/ppt/slides/slide10.xml" Id="Rb5a18a835b5c46ce" /><Relationship Type="http://schemas.openxmlformats.org/officeDocument/2006/relationships/slide" Target="/ppt/slides/slide11.xml" Id="Rae41de4c0e36467f" /><Relationship Type="http://schemas.openxmlformats.org/officeDocument/2006/relationships/slide" Target="/ppt/slides/slide12.xml" Id="R471702a5ef31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a561f186a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2578427cf4934" /><Relationship Type="http://schemas.openxmlformats.org/officeDocument/2006/relationships/notesMaster" Target="/ppt/notesMasters/notesMaster1.xml" Id="Re2fc7e7005cb4a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c79ebbb642445c" /><Relationship Type="http://schemas.openxmlformats.org/officeDocument/2006/relationships/notesMaster" Target="/ppt/notesMasters/notesMaster1.xml" Id="Rec58f5fe677749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46422f47b542f7" /><Relationship Type="http://schemas.openxmlformats.org/officeDocument/2006/relationships/notesMaster" Target="/ppt/notesMasters/notesMaster1.xml" Id="Rd2c57ee55c754c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812a50f8ad44f2" /><Relationship Type="http://schemas.openxmlformats.org/officeDocument/2006/relationships/notesMaster" Target="/ppt/notesMasters/notesMaster1.xml" Id="R212ca4ba334c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c1a18ece654949" /><Relationship Type="http://schemas.openxmlformats.org/officeDocument/2006/relationships/notesMaster" Target="/ppt/notesMasters/notesMaster1.xml" Id="R0088e0c5f823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23f0fe521346ab" /><Relationship Type="http://schemas.openxmlformats.org/officeDocument/2006/relationships/notesMaster" Target="/ppt/notesMasters/notesMaster1.xml" Id="R4906d59389da4f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9d83eb1775401a" /><Relationship Type="http://schemas.openxmlformats.org/officeDocument/2006/relationships/notesMaster" Target="/ppt/notesMasters/notesMaster1.xml" Id="R0e49236ac9d34f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df6e610beb44eb" /><Relationship Type="http://schemas.openxmlformats.org/officeDocument/2006/relationships/notesMaster" Target="/ppt/notesMasters/notesMaster1.xml" Id="R4284a184cab149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7d51dfc1ab4d25" /><Relationship Type="http://schemas.openxmlformats.org/officeDocument/2006/relationships/notesMaster" Target="/ppt/notesMasters/notesMaster1.xml" Id="R40b534f296254d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8fbc2cdc014a10" /><Relationship Type="http://schemas.openxmlformats.org/officeDocument/2006/relationships/notesMaster" Target="/ppt/notesMasters/notesMaster1.xml" Id="Ra3e709134dfb42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500acc14374d4d" /><Relationship Type="http://schemas.openxmlformats.org/officeDocument/2006/relationships/notesMaster" Target="/ppt/notesMasters/notesMaster1.xml" Id="R19b8ccd5ffc545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e8a57947f14b0c" /><Relationship Type="http://schemas.openxmlformats.org/officeDocument/2006/relationships/notesMaster" Target="/ppt/notesMasters/notesMaster1.xml" Id="R09762d77c9b040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goal: demonstrate an end-to-end AI engineering approach in five days.</a:t>
            </a:r>
          </a:p>
          <a:p xmlns:a="http://schemas.openxmlformats.org/drawingml/2006/main">
            <a:r>
              <a:t>State that this is a candidate project and not an official Allianz system.</a:t>
            </a:r>
          </a:p>
          <a:p xmlns:a="http://schemas.openxmlformats.org/drawingml/2006/main">
            <a:r>
              <a:t>Source: supplied GenAI Technical Assessment and CIDE/ASCIDE/CICOS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repository began with only a README, so project setup formed part of the work.</a:t>
            </a:r>
          </a:p>
          <a:p xmlns:a="http://schemas.openxmlformats.org/drawingml/2006/main">
            <a:r>
              <a:t>Do not promise production readiness. The five-day target drives a narrow but complete architecture.</a:t>
            </a:r>
          </a:p>
          <a:p xmlns:a="http://schemas.openxmlformats.org/drawingml/2006/main">
            <a:r>
              <a:t>Source: GenAI_Interview_Instructions.docx supplied with the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the high-impact action boundary before discussing the model.</a:t>
            </a:r>
          </a:p>
          <a:p xmlns:a="http://schemas.openxmlformats.org/drawingml/2006/main">
            <a:r>
              <a:t>The manual governs operational criteria between insurers and must not be presented as current legal advice.</a:t>
            </a:r>
          </a:p>
          <a:p xmlns:a="http://schemas.openxmlformats.org/drawingml/2006/main">
            <a:r>
              <a:t>Source: supplied manual, pages 25 to 27 on culpability, plus repository safety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each stage has a typed boundary and can be tested independently.</a:t>
            </a:r>
          </a:p>
          <a:p xmlns:a="http://schemas.openxmlformats.org/drawingml/2006/main">
            <a:r>
              <a:t>The arrow diagram is editable in PowerPoint.</a:t>
            </a:r>
          </a:p>
          <a:p xmlns:a="http://schemas.openxmlformats.org/drawingml/2006/main">
            <a:r>
              <a:t>Source: repository modules under src/allianz_rag.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damaged text-layer issue: visible pages are correct, while some extracted accents become unknown glyphs.</a:t>
            </a:r>
          </a:p>
          <a:p xmlns:a="http://schemas.openxmlformats.org/drawingml/2006/main">
            <a:r>
              <a:t>The measured counts come from the implemented ingestion pipeline.</a:t>
            </a:r>
          </a:p>
          <a:p xmlns:a="http://schemas.openxmlformats.org/drawingml/2006/main">
            <a:r>
              <a:t>Source: supplied 111-page PDF and local build output from allianz_rag.ingestion.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trade-off: the local embedding model increases image size and startup time, but avoids sending the manual to an embedding API.</a:t>
            </a:r>
          </a:p>
          <a:p xmlns:a="http://schemas.openxmlformats.org/drawingml/2006/main">
            <a:r>
              <a:t>Chroma is suitable for one manual and an interview demo. A managed regional vector store is a production option.</a:t>
            </a:r>
          </a:p>
          <a:p xmlns:a="http://schemas.openxmlformats.org/drawingml/2006/main">
            <a:r>
              <a:t>Source: pyproject.toml, config.py and vector_store.py.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routing is lexical: the business distinction does not require another model call.</a:t>
            </a:r>
          </a:p>
          <a:p xmlns:a="http://schemas.openxmlformats.org/drawingml/2006/main">
            <a:r>
              <a:t>The LLM drives semantic synthesis, while code owns validation and termination.</a:t>
            </a:r>
          </a:p>
          <a:p xmlns:a="http://schemas.openxmlformats.org/drawingml/2006/main">
            <a:r>
              <a:t>Source: src/allianz_rag/graph.py.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that citation validation proves factual correctness. It proves that cited identifiers were retrieved.</a:t>
            </a:r>
          </a:p>
          <a:p xmlns:a="http://schemas.openxmlformats.org/drawingml/2006/main">
            <a:r>
              <a:t>The next production control is an expert-labelled faithfulness and correctness evaluation.</a:t>
            </a:r>
          </a:p>
          <a:p xmlns:a="http://schemas.openxmlformats.org/drawingml/2006/main">
            <a:r>
              <a:t>Source: models.py, prompts.py and graph.py.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eight minutes for the full demo.</a:t>
            </a:r>
          </a:p>
          <a:p xmlns:a="http://schemas.openxmlformats.org/drawingml/2006/main">
            <a:r>
              <a:t>Open one citation in the PDF for the first two examples. In the third, praise the fallback behavior rather than forcing an answer.</a:t>
            </a:r>
          </a:p>
          <a:p xmlns:a="http://schemas.openxmlformats.org/drawingml/2006/main">
            <a:r>
              <a:t>Source: docs/interview_runbook.md and evaluation/golden_dataset.jsonl.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that the project currently validates logic with 11 passing unit tests and Ruff.</a:t>
            </a:r>
          </a:p>
          <a:p xmlns:a="http://schemas.openxmlformats.org/drawingml/2006/main">
            <a:r>
              <a:t>Do not invent retrieval scores before the complete embedding stack and index have run.</a:t>
            </a:r>
          </a:p>
          <a:p xmlns:a="http://schemas.openxmlformats.org/drawingml/2006/main">
            <a:r>
              <a:t>Source: evaluation.py, golden_dataset.jsonl and local test output on 29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demonstrate project management and acceptance criteria, not only a list of tasks.</a:t>
            </a:r>
          </a:p>
          <a:p xmlns:a="http://schemas.openxmlformats.org/drawingml/2006/main">
            <a:r>
              <a:t>Source: docs/delivery_plan.md.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distinguishing what is complete from what remains before production use.</a:t>
            </a:r>
          </a:p>
          <a:p xmlns:a="http://schemas.openxmlformats.org/drawingml/2006/main">
            <a:r>
              <a:t>Invite questions on retrieval evaluation, agent termination or deployment trade-offs.</a:t>
            </a:r>
          </a:p>
          <a:p xmlns:a="http://schemas.openxmlformats.org/drawingml/2006/main">
            <a:r>
              <a:t>Source: docs/technical_approach.md and delivery_plan.md.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7f7012bd3049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2a11418bce46f3" /><Relationship Type="http://schemas.openxmlformats.org/officeDocument/2006/relationships/slideLayout" Target="/ppt/slideLayouts/slideLayout1.xml" Id="R59c4c6dfea4948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c4c6dfea4948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9b88d81f14cb0" /><Relationship Type="http://schemas.openxmlformats.org/officeDocument/2006/relationships/notesSlide" Target="/ppt/notesSlides/notesSlide1.xml" Id="R91f3dbd7d81f4d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30832f11d46c7" /><Relationship Type="http://schemas.openxmlformats.org/officeDocument/2006/relationships/notesSlide" Target="/ppt/notesSlides/notesSlide2.xml" Id="R031e2308c9034d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5f3b43c484fde" /><Relationship Type="http://schemas.openxmlformats.org/officeDocument/2006/relationships/notesSlide" Target="/ppt/notesSlides/notesSlide3.xml" Id="R6a39824225db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799a888384ebc" /><Relationship Type="http://schemas.openxmlformats.org/officeDocument/2006/relationships/notesSlide" Target="/ppt/notesSlides/notesSlide4.xml" Id="R28597861aa6d41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722ee889d4185" /><Relationship Type="http://schemas.openxmlformats.org/officeDocument/2006/relationships/notesSlide" Target="/ppt/notesSlides/notesSlide5.xml" Id="R660440257cef4c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26908dcf64abe" /><Relationship Type="http://schemas.openxmlformats.org/officeDocument/2006/relationships/notesSlide" Target="/ppt/notesSlides/notesSlide6.xml" Id="Rda2a75d3213340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c76932c5f4bcc" /><Relationship Type="http://schemas.openxmlformats.org/officeDocument/2006/relationships/notesSlide" Target="/ppt/notesSlides/notesSlide7.xml" Id="Rfe304109ab7142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84493125a46eb" /><Relationship Type="http://schemas.openxmlformats.org/officeDocument/2006/relationships/notesSlide" Target="/ppt/notesSlides/notesSlide8.xml" Id="R653932ab26c749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0638a0d74483d" /><Relationship Type="http://schemas.openxmlformats.org/officeDocument/2006/relationships/notesSlide" Target="/ppt/notesSlides/notesSlide9.xml" Id="R0297fbbc939740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c4d88fc584383" /><Relationship Type="http://schemas.openxmlformats.org/officeDocument/2006/relationships/notesSlide" Target="/ppt/notesSlides/notesSlide10.xml" Id="Rca19324ecb9645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3da1dd12f4835" /><Relationship Type="http://schemas.openxmlformats.org/officeDocument/2006/relationships/notesSlide" Target="/ppt/notesSlides/notesSlide11.xml" Id="Raff08e92be2a41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091a78e984470" /><Relationship Type="http://schemas.openxmlformats.org/officeDocument/2006/relationships/notesSlide" Target="/ppt/notesSlides/notesSlide12.xml" Id="Rf8b69d7272c649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81592-A7F3-47A4-BE8F-89E90576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BE334-AAE8-45A4-B6B2-4406A23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097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RAG for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Motor Claims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EF07A-F69D-4D60-B659-B500018D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9DC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9DCE8"/>
                </a:solidFill>
                <a:latin typeface="Arial"/>
                <a:ea typeface="Arial"/>
                <a:cs typeface="Arial"/>
              </a:rPr>
              <a:t>CIDE, ASCIDE and CICOS evidence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B2080-CDC0-4054-AB46-DCF236FA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Engineer technical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84F7C-1406-4C46-B00E-ED06A3D2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C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CE8"/>
                </a:solidFill>
                <a:latin typeface="Arial"/>
                <a:ea typeface="Arial"/>
                <a:cs typeface="Arial"/>
              </a:rPr>
              <a:t>Five day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6EBE2-81EE-4BFE-B2B7-95C33F00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FC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FCC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79853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46A0B-1B5F-4F63-AAF2-5B4FCD7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Assessment brief and delivery constraint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4EA893DC-31D1-4640-BF6C-A126B5F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20AE5-6D51-46C5-AF00-1810778C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30399-50D1-44AF-B2C8-13884831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The expected system must answer manual questions and interpret accident narratives with an LLM.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CE850-EECA-4958-B85E-0715C9E7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Use the supplied 111-page CIDE, ASCIDE and CICOS manual as the knowledge source.</a:t>
            </a:r>
          </a:p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Explain model and retrieval choices during a live interview.</a:t>
            </a:r>
          </a:p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Identify parties, circumstances and agreement responsibility in accident cases.</a:t>
            </a:r>
          </a:p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Deliver source code, a technical document, a presentation and basic evaluation.</a:t>
            </a:r>
          </a:p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Complete a defensible vertical slice within five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10CBE-50B3-482B-B696-2588F4D6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Design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D902A-7797-4D19-9DFC-73920EC9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531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Traceability and a reliable demo matter more than feature breadth.</a:t>
            </a:r>
          </a:p>
        </p:txBody>
      </p:sp>
    </p:spTree>
    <p:extLst>
      <p:ext uri="{BB962C8B-B14F-4D97-AF65-F5344CB8AC3E}">
        <p14:creationId xmlns:p14="http://schemas.microsoft.com/office/powerpoint/2010/main" val="266389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E18-2E9B-445A-AE63-167322F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User goal and decision boundary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9DD15AEB-8AA6-4B78-8214-98A7CAA2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1A74B-6BAE-4D67-99DA-EA02D45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0B58B-0064-4592-9CA1-B8674258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Claims handler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1FED-6DC5-4307-A6B5-CF8BB620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Ask a factual question about the manual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Describe an accident in natural language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Inspect the evidence behind the answer</a:t>
            </a:r>
          </a:p>
        </p:txBody>
      </p:sp>
      <p:sp>
        <p:nvSpPr>
          <p:cNvPr id="6" name="Boundary divider">
            <a:extLst xmlns:a="http://schemas.openxmlformats.org/drawingml/2006/main">
              <a:ext uri="{FF2B5EF4-FFF2-40B4-BE49-F238E27FC236}">
                <a16:creationId xmlns:a16="http://schemas.microsoft.com/office/drawing/2014/main" id="{3C25C4EB-A715-4F87-98B1-CB873E95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B1DA3-BF32-4743-8925-9933A89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Human review remains mandatory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35616-34AF-43BD-A4D3-248E2DF9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572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Agreement responsibility is separate from legal liability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No automated coverage, payment or rejection decision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Missing facts and low confidence remain visible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The supplied source dates from 2004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2EE59-F7FA-49A0-BF97-70C11D99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The assistant supports a decision. It does not own the decision.</a:t>
            </a:r>
          </a:p>
        </p:txBody>
      </p:sp>
    </p:spTree>
    <p:extLst>
      <p:ext uri="{BB962C8B-B14F-4D97-AF65-F5344CB8AC3E}">
        <p14:creationId xmlns:p14="http://schemas.microsoft.com/office/powerpoint/2010/main" val="707266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FAC69-FF4E-4FB2-A77A-5CC56E15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End-to-end architecture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F6A4F047-839B-4CAC-B098-B3DB8291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75D99-C21F-4C84-9564-5E7BE79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41C97-DE7A-4563-9E79-3FB526C4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71E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or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accident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CD2DD-1D91-4BD9-AE2B-F1C316AF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745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route and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D0863-AB2F-4295-AFDA-96F2ABDD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Retrieval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Chroma and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C0AEB-7192-4C89-B9CA-44BF8B2B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Generation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Gemini and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0E505-FBE0-42F9-AB9A-332966C2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citations and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2CCC0-460F-4EC4-8B8A-4DFFAF5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57450"/>
            <a:ext cx="15240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or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3195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00500" y="3195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3195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10500" y="3195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31956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DF53E-BBB1-4B36-9DA5-BE008DCF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One service backs the CLI, FastAPI and Streamlit interfaces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D5542-AC06-4F40-9B13-9637968A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81625"/>
            <a:ext cx="833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Environment configuration  •  persistent index  •  external API-free unit tests</a:t>
            </a:r>
          </a:p>
        </p:txBody>
      </p:sp>
    </p:spTree>
    <p:extLst>
      <p:ext uri="{BB962C8B-B14F-4D97-AF65-F5344CB8AC3E}">
        <p14:creationId xmlns:p14="http://schemas.microsoft.com/office/powerpoint/2010/main" val="9461350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7C18D-2B9C-444F-9891-F417BE39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Source ingestion preserves page evidence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DFE37E4E-AF87-4E60-9E84-3E5B7F7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4C225-3276-4131-91F6-A8015DBE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7ABF9-AC9A-4AE0-9A85-4D31A35F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5B9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5B96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742BE-B822-4C11-8D9B-5619C879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PDF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537EB-B832-4364-9012-D2EB957D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5B9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5B96"/>
                </a:solidFill>
                <a:latin typeface="Arial"/>
                <a:ea typeface="Arial"/>
                <a:cs typeface="Arial"/>
              </a:rPr>
              <a:t>134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7416B-3AA2-487E-BEA8-6A990A92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stable chunks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AFE7B-B7EE-429D-9ED3-68AE0DBB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240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5B9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5B96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A192A-5E71-42F0-B46E-F222C14C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detected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1C32D-07AE-406B-8417-72A20F46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E91C0-F94E-443A-8119-19AC1DBB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page per citation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1ADA6-573E-4228-8067-FB7A32AB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9239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Cleaning is deterministic and never guesses missing accented characters.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Chunks do not cross page boundaries.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Source, page, section and SHA-derived chunk ID travel with every vector.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80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D2730"/>
                </a:solidFill>
                <a:latin typeface="Arial"/>
                <a:ea typeface="Arial"/>
                <a:cs typeface="Arial"/>
              </a:rPr>
              <a:t>Spanish OCR remains a documented production improvement.</a:t>
            </a:r>
          </a:p>
        </p:txBody>
      </p:sp>
    </p:spTree>
    <p:extLst>
      <p:ext uri="{BB962C8B-B14F-4D97-AF65-F5344CB8AC3E}">
        <p14:creationId xmlns:p14="http://schemas.microsoft.com/office/powerpoint/2010/main" val="1775817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21A37-623D-4FA4-AA1D-24BE179E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Retrieval favors privacy and traceability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AF04510A-98B4-4B96-8E88-8065CDD9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AC65B-7EEE-40E6-9121-9DF61D6B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8A971-2857-4BD4-A488-AB925920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multilingual embeddings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5B771-6AA2-4B8B-9AA6-F06AB6CB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42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730"/>
                </a:solidFill>
                <a:latin typeface="Arial"/>
                <a:ea typeface="Arial"/>
                <a:cs typeface="Arial"/>
              </a:rPr>
              <a:t>The manual stays local during indexing. Spanish queries and source text share one embedding space.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25CF1-9651-4724-9A9D-C1E0CF8C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Persistent Chroma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B62F4-0CC8-4430-A6C4-A777EBE0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730"/>
                </a:solidFill>
                <a:latin typeface="Arial"/>
                <a:ea typeface="Arial"/>
                <a:cs typeface="Arial"/>
              </a:rPr>
              <a:t>Cosine-distance HNSW search keeps source, page and section metadata beside each chunk.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70208-9F20-4FE7-BE4C-D43D7985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Configurable acceptance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E6B91-5843-4B86-B227-2169CFA3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38375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D2730"/>
                </a:solidFill>
                <a:latin typeface="Arial"/>
                <a:ea typeface="Arial"/>
                <a:cs typeface="Arial"/>
              </a:rPr>
              <a:t>Top K equals six by default. A maximum distance rejects weak evidence before generation.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29948-EBD6-49DA-B1E2-1B9ECD9D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Retrieval quality is measured independently from answer fluency</a:t>
            </a:r>
          </a:p>
        </p:txBody>
      </p:sp>
    </p:spTree>
    <p:extLst>
      <p:ext uri="{BB962C8B-B14F-4D97-AF65-F5344CB8AC3E}">
        <p14:creationId xmlns:p14="http://schemas.microsoft.com/office/powerpoint/2010/main" val="1560095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B0F16-7E7D-46B5-94F6-5F2360E1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Agent graph uses deterministic control where possible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5FECE0D6-F265-4A30-8424-50FD76C6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38FC5-62DD-4BBC-988C-D2C2D5BA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8FA44-C1A3-48CB-B5ED-6E93DB6A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5FC57-9A7E-436E-906C-D29D748E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Validate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4528C-DCD0-4C87-8CA6-4514DE59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15B80-2A5A-479F-B163-D9929C0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Classify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A3148-9DC1-40C8-A228-ABBE1E6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AF9CE-7C97-4750-825A-AE0C85A8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Retrieve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FD898-F78B-427A-8F01-B2E923C7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758EE-C8EC-4B4F-A0FE-B5E52C57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Generate schema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E1935-3BCB-4E12-A1A7-9826DE5D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BE995-239A-4B41-A413-ED4CBECB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Check citations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EF5B4-46D0-41A6-B802-63D502AD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52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53654-05B9-4737-8493-AB83A3C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575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2730"/>
                </a:solidFill>
                <a:latin typeface="Arial"/>
                <a:ea typeface="Arial"/>
                <a:cs typeface="Arial"/>
              </a:rPr>
              <a:t>Retry once or stop</a:t>
            </a:r>
          </a:p>
        </p:txBody>
      </p:sp>
      <p:cxnSp>
        <p:nvCxnSpPr>
          <p:cNvPr id="40" name=""/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466850" y="2305050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6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3324225" y="2305050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8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5181600" y="2305050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0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7038975" y="2305050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2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8896350" y="2305050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A73"/>
            </a:solidFill>
            <a:prstDash val="solid"/>
            <a:tail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E8E45-AF03-42F4-9AC2-8FA9D13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Explicit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55E90-867A-48FB-AD43-3C7C7DFA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86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query, route, evidence, answer, warnings, feedback, retry 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B0F7E-52A8-4873-8922-CEAC427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Termination condition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9EFCC-14C4-400A-A7C8-635B1CC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053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one retry, then a low-confidence human-review response</a:t>
            </a:r>
          </a:p>
        </p:txBody>
      </p:sp>
    </p:spTree>
    <p:extLst>
      <p:ext uri="{BB962C8B-B14F-4D97-AF65-F5344CB8AC3E}">
        <p14:creationId xmlns:p14="http://schemas.microsoft.com/office/powerpoint/2010/main" val="1386033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B7080-3A90-4D8F-B693-57174AC1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Structured answers make failures observable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9E4EBD26-0409-4E03-B545-CFE730B3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D5811-9550-4174-9F90-604EAC60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D32FF-B301-40CA-9022-81AAAB5E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Response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EE252-8D50-4210-B3FF-403BF2F2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619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Plain-language answer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Parties and case type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Agreement responsibility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Applicable framework and key facts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Missing information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Citations, confidence and limitations</a:t>
            </a:r>
          </a:p>
        </p:txBody>
      </p:sp>
      <p:sp>
        <p:nvSpPr>
          <p:cNvPr id="6" name="Contract boundary">
            <a:extLst xmlns:a="http://schemas.openxmlformats.org/drawingml/2006/main">
              <a:ext uri="{FF2B5EF4-FFF2-40B4-BE49-F238E27FC236}">
                <a16:creationId xmlns:a16="http://schemas.microsoft.com/office/drawing/2014/main" id="{64A0F61B-ED91-467C-BD55-699E6573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285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47298-4A1C-452D-9D9E-A618171A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Runtime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BE748-AFA5-4180-835E-402606C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6196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Retrieved passages are untrusted data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Every citation must match source, page and chunk ID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Unknown citations trigger one regeneration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Weak retrieval returns an explicit fallback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D273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D2730"/>
                </a:solidFill>
                <a:latin typeface="Arial"/>
                <a:ea typeface="Arial"/>
                <a:cs typeface="Arial"/>
              </a:rPr>
              <a:t>High-impact actions remain outside the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D8BAD-8B5B-4A5B-8C6F-1440D9FB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A fluent answer does not pass unless its evidence is valid</a:t>
            </a:r>
          </a:p>
        </p:txBody>
      </p:sp>
    </p:spTree>
    <p:extLst>
      <p:ext uri="{BB962C8B-B14F-4D97-AF65-F5344CB8AC3E}">
        <p14:creationId xmlns:p14="http://schemas.microsoft.com/office/powerpoint/2010/main" val="198853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5192B-0289-4A3E-9633-D8E05035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Live demo sequence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28CF684B-B1EC-40CF-80CF-79A27A5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A8A5E-7C6B-4467-8D77-05D1AE2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DF9BD-ED0F-4F4D-A3AD-88CBFBD4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8B925-F848-4683-BB4C-1B77006B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335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Factual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B2CBB-8FB5-4AE1-8A11-958D3982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716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Does alcohol alone exclude the agreements?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EA55B-8B45-4132-BCC0-BCA063E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9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87B80-A110-4BDA-9017-3AE39EC1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622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Accident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8B935-5CF5-433F-B187-F29D35E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042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Rear-end collision at a red 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634F1-AA2E-445A-81F8-F4E5833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4CFB2-1CDE-4085-A7AF-67447D7B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910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Controlled limitation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62141-37D9-4229-A182-5118DA72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291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Parked car and unknown vehicle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38ED0-97C5-4881-B8AD-46C9BE19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0550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For each case: show the conclusion, missing facts and cited PDF page</a:t>
            </a:r>
          </a:p>
        </p:txBody>
      </p:sp>
    </p:spTree>
    <p:extLst>
      <p:ext uri="{BB962C8B-B14F-4D97-AF65-F5344CB8AC3E}">
        <p14:creationId xmlns:p14="http://schemas.microsoft.com/office/powerpoint/2010/main" val="1581564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83DCC-0577-44F8-921F-4259319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Evaluation separates retrieval from generation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7B390B69-9585-4E7C-8E11-ADFF2D27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E6D9F-2997-472A-82F6-55320078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104775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3333750"/>
                <a:gridCol w="4953000"/>
              </a:tblGrid>
              <a:tr h="647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 anchor="ctr">
                    <a:solidFill>
                      <a:srgbClr val="07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solidFill>
                      <a:srgbClr val="07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answered</a:t>
                      </a:r>
                    </a:p>
                  </a:txBody>
                  <a:tcPr marL="91440" marR="91440" marT="45720" marB="45720" anchor="ctr">
                    <a:solidFill>
                      <a:srgbClr val="071E2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Retrieval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Recall at 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Did any relevant page appear?</a:t>
                      </a:r>
                    </a:p>
                  </a:txBody>
                  <a:tcPr marL="114300" marR="114300" marT="76200" marB="76200" anchor="ctr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Retrieval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Mean reciprocal rank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How early did relevant evidence appear?</a:t>
                      </a:r>
                    </a:p>
                  </a:txBody>
                  <a:tcPr marL="114300" marR="114300" marT="76200" marB="76200" anchor="ctr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Generation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Citation validity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Do citations match retrieved metadata?</a:t>
                      </a:r>
                    </a:p>
                  </a:txBody>
                  <a:tcPr marL="114300" marR="114300" marT="76200" marB="76200" anchor="ctr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Generation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Structured completeness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Are required fields present?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3A95B-AAEC-4A48-B00B-D609E352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Ten golden cases cover the interview hints and key manual topics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A61D0-907D-4995-8957-C3F99CD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29300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6A73"/>
                </a:solidFill>
                <a:latin typeface="Arial"/>
                <a:ea typeface="Arial"/>
                <a:cs typeface="Arial"/>
              </a:rPr>
              <a:t>Next step: expert labels for correctness, faithfulness and usefulness</a:t>
            </a:r>
          </a:p>
        </p:txBody>
      </p:sp>
    </p:spTree>
    <p:extLst>
      <p:ext uri="{BB962C8B-B14F-4D97-AF65-F5344CB8AC3E}">
        <p14:creationId xmlns:p14="http://schemas.microsoft.com/office/powerpoint/2010/main" val="19779177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5154E-9C16-44F1-A6B9-411DABFD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Five day implementation plan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34CF43AC-9ED4-430C-8D4C-D62E0438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A3209-D403-4BB9-AC7D-00A8D5D7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D6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6A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42950" y="14287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52500"/>
                <a:gridCol w="4095750"/>
                <a:gridCol w="5619750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Day</a:t>
                      </a:r>
                    </a:p>
                  </a:txBody>
                  <a:tcPr marL="91440" marR="91440" marT="45720" marB="45720" anchor="ctr">
                    <a:solidFill>
                      <a:srgbClr val="07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 anchor="ctr">
                    <a:solidFill>
                      <a:srgbClr val="07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Acceptance check</a:t>
                      </a:r>
                    </a:p>
                  </a:txBody>
                  <a:tcPr marL="91440" marR="91440" marT="45720" marB="45720" anchor="ctr">
                    <a:solidFill>
                      <a:srgbClr val="071E2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Requirements and architecture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Pages extract with metadata; decisions recorded</a:t>
                      </a:r>
                    </a:p>
                  </a:txBody>
                  <a:tcPr marL="114300" marR="114300" marT="76200" marB="762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Ingestion and retrieval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Golden questions return relevant pages in top six</a:t>
                      </a:r>
                    </a:p>
                  </a:txBody>
                  <a:tcPr marL="114300" marR="114300" marT="76200" marB="762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Agent graph and guardrails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Citations validate; every route terminates</a:t>
                      </a:r>
                    </a:p>
                  </a:txBody>
                  <a:tcPr marL="114300" marR="114300" marT="76200" marB="762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API, UI, Docker and evaluation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Examples run through one shared service</a:t>
                      </a:r>
                    </a:p>
                  </a:txBody>
                  <a:tcPr marL="114300" marR="114300" marT="76200" marB="76200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Tests, deliverables and rehearsal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D2730"/>
                          </a:solidFill>
                          <a:latin typeface="Arial"/>
                          <a:ea typeface="Arial"/>
                          <a:cs typeface="Arial"/>
                        </a:rPr>
                        <a:t>Clean setup and timed presentation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99DE8-4188-45E7-8FC3-E4A4C774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Scope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80197-E9D5-4768-BDAF-9203A25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531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E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E2E"/>
                </a:solidFill>
                <a:latin typeface="Arial"/>
                <a:ea typeface="Arial"/>
                <a:cs typeface="Arial"/>
              </a:rPr>
              <a:t>Complete one auditable vertical slice before adding breadth</a:t>
            </a:r>
          </a:p>
        </p:txBody>
      </p:sp>
    </p:spTree>
    <p:extLst>
      <p:ext uri="{BB962C8B-B14F-4D97-AF65-F5344CB8AC3E}">
        <p14:creationId xmlns:p14="http://schemas.microsoft.com/office/powerpoint/2010/main" val="1933800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E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9C1F1-6A08-495B-9C9B-C2048C1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Risks and production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343B4-02EE-4715-9516-CC57B64B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A8E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A8E0"/>
                </a:solidFill>
                <a:latin typeface="Arial"/>
                <a:ea typeface="Arial"/>
                <a:cs typeface="Arial"/>
              </a:rPr>
              <a:t>Immediate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4B210-7A7D-48CB-8019-94E08D7B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572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Damaged PDF text layer</a:t>
            </a:r>
          </a:p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2004 source may be outdated</a:t>
            </a:r>
          </a:p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and network dependency</a:t>
            </a:r>
          </a:p>
          <a:p xmlns:a="http://schemas.openxmlformats.org/drawingml/2006/main">
            <a:pPr marL="228600" indent="-101600">
              <a:spcAft>
                <a:spcPts val="13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No expert-labelled answer set yet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2219F-3CE3-4744-828D-7CBBB9CD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A8E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A8E0"/>
                </a:solidFill>
                <a:latin typeface="Arial"/>
                <a:ea typeface="Arial"/>
                <a:cs typeface="Arial"/>
              </a:rPr>
              <a:t>Production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620E2-BE3E-4176-B208-E1B51BED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Spanish OCR and document versioning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retrieval and reranking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Expert correctness and faithfulness labels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control, PII redaction and audit traces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approval before downstream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376FD-71C9-443E-8366-1E26B6A0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Repository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E631F-BB52-4ADE-803D-4F7C3E8A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388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testable MVP with explicit limits, ready for interview rehearsal</a:t>
            </a:r>
          </a:p>
        </p:txBody>
      </p:sp>
    </p:spTree>
    <p:extLst>
      <p:ext uri="{BB962C8B-B14F-4D97-AF65-F5344CB8AC3E}">
        <p14:creationId xmlns:p14="http://schemas.microsoft.com/office/powerpoint/2010/main" val="68624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2026-09-29T17:12:50.7290000Z</dcterms:created>
  <dcterms:modified xsi:type="dcterms:W3CDTF">2026-09-29T17:12:50.7290000Z</dcterms:modified>
</coreProperties>
</file>